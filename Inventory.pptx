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33"/>
  </p:notesMasterIdLst>
  <p:sldIdLst>
    <p:sldId id="316" r:id="rId5"/>
    <p:sldId id="311" r:id="rId6"/>
    <p:sldId id="327" r:id="rId7"/>
    <p:sldId id="313" r:id="rId8"/>
    <p:sldId id="317" r:id="rId9"/>
    <p:sldId id="304" r:id="rId10"/>
    <p:sldId id="345" r:id="rId11"/>
    <p:sldId id="328" r:id="rId12"/>
    <p:sldId id="332" r:id="rId13"/>
    <p:sldId id="347" r:id="rId14"/>
    <p:sldId id="333" r:id="rId15"/>
    <p:sldId id="334" r:id="rId16"/>
    <p:sldId id="337" r:id="rId17"/>
    <p:sldId id="350" r:id="rId18"/>
    <p:sldId id="349" r:id="rId19"/>
    <p:sldId id="336" r:id="rId20"/>
    <p:sldId id="348" r:id="rId21"/>
    <p:sldId id="338" r:id="rId22"/>
    <p:sldId id="329" r:id="rId23"/>
    <p:sldId id="351" r:id="rId24"/>
    <p:sldId id="331" r:id="rId25"/>
    <p:sldId id="335" r:id="rId26"/>
    <p:sldId id="341" r:id="rId27"/>
    <p:sldId id="326" r:id="rId28"/>
    <p:sldId id="346" r:id="rId29"/>
    <p:sldId id="343" r:id="rId30"/>
    <p:sldId id="340" r:id="rId31"/>
    <p:sldId id="30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ABF34-838D-4354-B857-258F975F4BA1}" v="446" dt="2025-12-08T10:49:32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7" autoAdjust="0"/>
    <p:restoredTop sz="95226" autoAdjust="0"/>
  </p:normalViewPr>
  <p:slideViewPr>
    <p:cSldViewPr snapToGrid="0">
      <p:cViewPr varScale="1">
        <p:scale>
          <a:sx n="91" d="100"/>
          <a:sy n="91" d="100"/>
        </p:scale>
        <p:origin x="408" y="72"/>
      </p:cViewPr>
      <p:guideLst/>
    </p:cSldViewPr>
  </p:slideViewPr>
  <p:outlineViewPr>
    <p:cViewPr>
      <p:scale>
        <a:sx n="33" d="100"/>
        <a:sy n="33" d="100"/>
      </p:scale>
      <p:origin x="0" y="-31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1857-7F2F-4FA5-AC91-CA6CB406E5ED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1AFB1-1A0D-4465-9C69-5C319B14D7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7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1AFB1-1A0D-4465-9C69-5C319B14D7B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568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2696-ACF4-3A0C-2245-79A7FB55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5D311-0FD6-EB22-5C67-DD2C76FCB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AC6D6-C39D-E748-3DDB-360C4FC8C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5E2F9-B845-4480-4455-A61D3A0AD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1AFB1-1A0D-4465-9C69-5C319B14D7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53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228C-CCE7-ECE7-0BB2-56C43225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B66ED-3EFE-446E-4407-E22AF0003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C3038-4355-0D1D-AFCC-D284C70CB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07E25-9B66-0034-F7D7-B078CC4A3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1AFB1-1A0D-4465-9C69-5C319B14D7B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09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A659-150A-5773-FE5C-22B2546E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B5EAC-524A-EA8B-A95D-BEE454188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A6952-9E58-2C71-CC22-ADDC40207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23B21-9569-1497-E67E-70541EA97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1AFB1-1A0D-4465-9C69-5C319B14D7B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517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37BDE-FCE3-41C4-B976-0DC28743AC5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0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159" y="1348536"/>
            <a:ext cx="4076458" cy="3654827"/>
          </a:xfrm>
        </p:spPr>
        <p:txBody>
          <a:bodyPr anchor="b">
            <a:normAutofit/>
          </a:bodyPr>
          <a:lstStyle>
            <a:lvl1pPr algn="r">
              <a:def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4851079-28FC-41AF-8373-BD8382DEDA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  <a:cs typeface="Calibri"/>
              </a:rPr>
              <a:t>Click to edit master text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D6C3907-3C68-4C02-98EE-B36817B376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7025" y="0"/>
            <a:ext cx="6734974" cy="6858001"/>
          </a:xfrm>
          <a:custGeom>
            <a:avLst/>
            <a:gdLst>
              <a:gd name="connsiteX0" fmla="*/ 1 w 6734974"/>
              <a:gd name="connsiteY0" fmla="*/ 6292661 h 6858001"/>
              <a:gd name="connsiteX1" fmla="*/ 6734974 w 6734974"/>
              <a:gd name="connsiteY1" fmla="*/ 6292661 h 6858001"/>
              <a:gd name="connsiteX2" fmla="*/ 6734974 w 6734974"/>
              <a:gd name="connsiteY2" fmla="*/ 6858001 h 6858001"/>
              <a:gd name="connsiteX3" fmla="*/ 1 w 6734974"/>
              <a:gd name="connsiteY3" fmla="*/ 6858001 h 6858001"/>
              <a:gd name="connsiteX4" fmla="*/ 0 w 6734974"/>
              <a:gd name="connsiteY4" fmla="*/ 0 h 6858001"/>
              <a:gd name="connsiteX5" fmla="*/ 6734973 w 6734974"/>
              <a:gd name="connsiteY5" fmla="*/ 0 h 6858001"/>
              <a:gd name="connsiteX6" fmla="*/ 6734973 w 6734974"/>
              <a:gd name="connsiteY6" fmla="*/ 6256019 h 6858001"/>
              <a:gd name="connsiteX7" fmla="*/ 0 w 6734974"/>
              <a:gd name="connsiteY7" fmla="*/ 625601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34974" h="6858001">
                <a:moveTo>
                  <a:pt x="1" y="6292661"/>
                </a:moveTo>
                <a:lnTo>
                  <a:pt x="6734974" y="6292661"/>
                </a:lnTo>
                <a:lnTo>
                  <a:pt x="6734974" y="6858001"/>
                </a:lnTo>
                <a:lnTo>
                  <a:pt x="1" y="6858001"/>
                </a:lnTo>
                <a:close/>
                <a:moveTo>
                  <a:pt x="0" y="0"/>
                </a:moveTo>
                <a:lnTo>
                  <a:pt x="6734973" y="0"/>
                </a:lnTo>
                <a:lnTo>
                  <a:pt x="6734973" y="6256019"/>
                </a:lnTo>
                <a:lnTo>
                  <a:pt x="0" y="62560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84E7FD-271C-4B10-826F-A323C479D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93159" y="6274339"/>
            <a:ext cx="113988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4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FE17E6-924C-47EE-8164-2CD1687C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72DC8-7C70-4BE2-9DB2-CFABD37F8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1965163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2550" y="539750"/>
            <a:ext cx="4281488" cy="2468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E5E2300-A2FB-4449-8855-6D21495825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4050" y="3835400"/>
            <a:ext cx="4281488" cy="2468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96BE-A34E-471B-A916-071966BC699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040EA-B3B8-4EB9-BC7F-EB3DFF9597D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82D71-9E0A-4793-BA54-BEAEB7A368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48A8E28-7873-4AFA-A619-0E497E01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2268" y="536567"/>
            <a:ext cx="5784867" cy="5784867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 anchor="ctr">
            <a:normAutofit/>
          </a:bodyPr>
          <a:lstStyle>
            <a:lvl1pPr algn="ctr">
              <a:defRPr lang="en-US" sz="45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6567"/>
            <a:ext cx="4518504" cy="5784867"/>
          </a:xfrm>
        </p:spPr>
        <p:txBody>
          <a:bodyPr anchor="ctr">
            <a:normAutofit/>
          </a:bodyPr>
          <a:lstStyle>
            <a:lvl1pPr marL="0" indent="0">
              <a:lnSpc>
                <a:spcPts val="2500"/>
              </a:lnSpc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sp>
        <p:nvSpPr>
          <p:cNvPr id="4" name="Graphic 13">
            <a:extLst>
              <a:ext uri="{FF2B5EF4-FFF2-40B4-BE49-F238E27FC236}">
                <a16:creationId xmlns:a16="http://schemas.microsoft.com/office/drawing/2014/main" id="{5EB0124E-1A8A-4EB1-A9CF-E273590B6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945" y="351421"/>
            <a:ext cx="198609" cy="198609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2">
            <a:extLst>
              <a:ext uri="{FF2B5EF4-FFF2-40B4-BE49-F238E27FC236}">
                <a16:creationId xmlns:a16="http://schemas.microsoft.com/office/drawing/2014/main" id="{44654EA2-A648-4219-B093-1C05AE96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5883" y="5732852"/>
            <a:ext cx="130186" cy="130186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81C0EC89-A66C-4027-8FF0-F7605B50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223" y="1072473"/>
            <a:ext cx="182432" cy="182432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11FC072-5A30-4F87-8D5F-B58BC2023A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785751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A406C42C-BE3A-4833-B0B7-357CE8FB6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E6E8B18-45E0-4925-8E5D-41F418C91E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236E68-2CF8-44ED-939D-0302808CE8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370" cy="6858000"/>
          </a:xfrm>
          <a:custGeom>
            <a:avLst/>
            <a:gdLst>
              <a:gd name="connsiteX0" fmla="*/ 0 w 12188370"/>
              <a:gd name="connsiteY0" fmla="*/ 0 h 6858000"/>
              <a:gd name="connsiteX1" fmla="*/ 12188370 w 12188370"/>
              <a:gd name="connsiteY1" fmla="*/ 0 h 6858000"/>
              <a:gd name="connsiteX2" fmla="*/ 12188370 w 12188370"/>
              <a:gd name="connsiteY2" fmla="*/ 6858000 h 6858000"/>
              <a:gd name="connsiteX3" fmla="*/ 0 w 12188370"/>
              <a:gd name="connsiteY3" fmla="*/ 6858000 h 6858000"/>
              <a:gd name="connsiteX4" fmla="*/ 0 w 12188370"/>
              <a:gd name="connsiteY4" fmla="*/ 843875 h 6858000"/>
              <a:gd name="connsiteX5" fmla="*/ 8473201 w 12188370"/>
              <a:gd name="connsiteY5" fmla="*/ 843875 h 6858000"/>
              <a:gd name="connsiteX6" fmla="*/ 8473201 w 12188370"/>
              <a:gd name="connsiteY6" fmla="*/ 816443 h 6858000"/>
              <a:gd name="connsiteX7" fmla="*/ 0 w 12188370"/>
              <a:gd name="connsiteY7" fmla="*/ 8164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370" h="6858000">
                <a:moveTo>
                  <a:pt x="0" y="0"/>
                </a:moveTo>
                <a:lnTo>
                  <a:pt x="12188370" y="0"/>
                </a:lnTo>
                <a:lnTo>
                  <a:pt x="12188370" y="6858000"/>
                </a:lnTo>
                <a:lnTo>
                  <a:pt x="0" y="6858000"/>
                </a:lnTo>
                <a:lnTo>
                  <a:pt x="0" y="843875"/>
                </a:lnTo>
                <a:lnTo>
                  <a:pt x="8473201" y="843875"/>
                </a:lnTo>
                <a:lnTo>
                  <a:pt x="8473201" y="816443"/>
                </a:lnTo>
                <a:lnTo>
                  <a:pt x="0" y="8164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3A8F-B976-406D-827A-8714EFF80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6275" y="2276439"/>
            <a:ext cx="9679448" cy="2868439"/>
          </a:xfrm>
        </p:spPr>
        <p:txBody>
          <a:bodyPr anchor="b">
            <a:noAutofit/>
          </a:bodyPr>
          <a:lstStyle>
            <a:lvl1pPr algn="l">
              <a:defRPr lang="en-US" sz="7200" b="1" kern="1200" cap="all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1D9E9B9-E0A7-4C75-946E-BBAEBCC2CA6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56275" y="5098254"/>
            <a:ext cx="9679449" cy="750259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C6873F-B921-4626-97A7-FD8E9398E4E7}"/>
              </a:ext>
            </a:extLst>
          </p:cNvPr>
          <p:cNvCxnSpPr>
            <a:cxnSpLocks/>
          </p:cNvCxnSpPr>
          <p:nvPr userDrawn="1"/>
        </p:nvCxnSpPr>
        <p:spPr>
          <a:xfrm flipH="1">
            <a:off x="-10886" y="821523"/>
            <a:ext cx="847320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raphic 13">
            <a:extLst>
              <a:ext uri="{FF2B5EF4-FFF2-40B4-BE49-F238E27FC236}">
                <a16:creationId xmlns:a16="http://schemas.microsoft.com/office/drawing/2014/main" id="{275D0799-1240-4A8C-98BF-96679D262568}"/>
              </a:ext>
            </a:extLst>
          </p:cNvPr>
          <p:cNvSpPr/>
          <p:nvPr userDrawn="1"/>
        </p:nvSpPr>
        <p:spPr>
          <a:xfrm>
            <a:off x="544954" y="2865643"/>
            <a:ext cx="146329" cy="157937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3F7A1898-37E9-4DF7-9E1E-A5D41681C6D9}"/>
              </a:ext>
            </a:extLst>
          </p:cNvPr>
          <p:cNvSpPr/>
          <p:nvPr userDrawn="1"/>
        </p:nvSpPr>
        <p:spPr>
          <a:xfrm>
            <a:off x="903734" y="3094942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DA49FC99-340D-4901-98CD-6C4D1941C969}"/>
              </a:ext>
            </a:extLst>
          </p:cNvPr>
          <p:cNvSpPr/>
          <p:nvPr userDrawn="1"/>
        </p:nvSpPr>
        <p:spPr>
          <a:xfrm>
            <a:off x="532920" y="361923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7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,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395" y="1825625"/>
            <a:ext cx="10069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5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7D4E1F-D8DD-4ED2-8901-A47E93089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46745-2521-4BB4-80EC-24CD13F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252743"/>
            <a:ext cx="4434721" cy="4820000"/>
          </a:xfrm>
        </p:spPr>
        <p:txBody>
          <a:bodyPr anchor="b">
            <a:normAutofit/>
          </a:bodyPr>
          <a:lstStyle>
            <a:lvl1pPr>
              <a:def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9682C5-2804-43F9-B365-D5F853CEB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3301" y="299507"/>
            <a:ext cx="5221620" cy="62589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19B6EE4-4480-4732-A518-32AAC2EC081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83215D-2938-4915-9C53-FDF71E3F0E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2583" y="5377543"/>
            <a:ext cx="4434721" cy="978806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z="1800" dirty="0">
                <a:cs typeface="Calibri"/>
              </a:rPr>
              <a:t>Click to edit master text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238B2-89F4-4CBF-8949-A4979F88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8DA37-6556-4F96-9D80-0B084FB282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16200000">
            <a:off x="9812116" y="1591485"/>
            <a:ext cx="354809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928D1E0-21A1-4EC2-B776-3F8703D3A0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0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B15A-5639-4D83-9CDE-B6FC231C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24" y="346498"/>
            <a:ext cx="8117654" cy="1325563"/>
          </a:xfrm>
        </p:spPr>
        <p:txBody>
          <a:bodyPr>
            <a:normAutofit/>
          </a:bodyPr>
          <a:lstStyle>
            <a:lvl1pPr>
              <a:defRPr sz="54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AB6B174-300F-4F50-A575-00A13C1635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438" y="2006600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74E96A81-148E-486F-BEFA-3D3FDB0B41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4908" y="2006380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17F02522-1BD4-4AC9-BBCB-05010ECC0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0378" y="2015722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E961DC1B-263A-48A8-89E6-541AC356E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7276" y="2006379"/>
            <a:ext cx="2286000" cy="26082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C4443B1-A455-4AF9-BE87-A07EA91F85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724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EEC7D0BC-E2A5-4FBE-A334-D9FF80B0DD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8724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0CC80C9C-897F-4C36-8150-427548D8FF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490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621D1DC-4C76-4E2F-A56F-7D7C193776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490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2DF3BDDA-6F5B-42F5-B623-12E87B199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0378" y="5017734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332AD10F-DEDB-4199-BAF1-536999434B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10378" y="5352052"/>
            <a:ext cx="2286000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28F12227-FF8F-4C6B-910E-91A315DC22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5847" y="5017734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600" b="1" i="0" kern="1200" cap="all" spc="40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/>
            </a:lvl2pPr>
          </a:lstStyle>
          <a:p>
            <a:pPr marL="3690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C71F03-1105-4059-948E-EE58B5878A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5847" y="5352052"/>
            <a:ext cx="2285999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D29C9-824B-4147-81C3-28968F4647D1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61988" y="61339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38C45-011A-48F8-A346-A07B1E830B4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505757" y="845343"/>
            <a:ext cx="363392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C46EB-807F-48CF-988B-E006AEC9992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610600" y="61604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0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2 column (comparison slide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5">
            <a:extLst>
              <a:ext uri="{FF2B5EF4-FFF2-40B4-BE49-F238E27FC236}">
                <a16:creationId xmlns:a16="http://schemas.microsoft.com/office/drawing/2014/main" id="{AF89E921-750A-4005-BEC2-04B9514B2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3B378915-E570-47AE-8F85-FB8ED4A6C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4">
            <a:extLst>
              <a:ext uri="{FF2B5EF4-FFF2-40B4-BE49-F238E27FC236}">
                <a16:creationId xmlns:a16="http://schemas.microsoft.com/office/drawing/2014/main" id="{3AF1E926-D68F-4DC8-9F6D-C2C1576F9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6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822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282206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815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6815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F0B73B7-7EF9-4436-8B85-AC6CB551C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3841" y="1681163"/>
            <a:ext cx="329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12A1950-E837-4678-94B1-FA24467145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3841" y="2505075"/>
            <a:ext cx="3298370" cy="3684588"/>
          </a:xfrm>
        </p:spPr>
        <p:txBody>
          <a:bodyPr>
            <a:noAutofit/>
          </a:bodyPr>
          <a:lstStyle>
            <a:lvl1pPr>
              <a:lnSpc>
                <a:spcPts val="2500"/>
              </a:lnSpc>
              <a:defRPr sz="2000"/>
            </a:lvl1pPr>
            <a:lvl2pPr>
              <a:lnSpc>
                <a:spcPts val="2500"/>
              </a:lnSpc>
              <a:defRPr sz="2000"/>
            </a:lvl2pPr>
            <a:lvl3pPr>
              <a:lnSpc>
                <a:spcPts val="2500"/>
              </a:lnSpc>
              <a:defRPr sz="2000"/>
            </a:lvl3pPr>
            <a:lvl4pPr>
              <a:lnSpc>
                <a:spcPts val="2500"/>
              </a:lnSpc>
              <a:defRPr sz="2000"/>
            </a:lvl4pPr>
            <a:lvl5pPr>
              <a:lnSpc>
                <a:spcPts val="25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C425DB15-1B5A-4780-98B4-C0921A42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96A2980-FE4D-41BC-9B3F-DEC465C64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4">
            <a:extLst>
              <a:ext uri="{FF2B5EF4-FFF2-40B4-BE49-F238E27FC236}">
                <a16:creationId xmlns:a16="http://schemas.microsoft.com/office/drawing/2014/main" id="{2BBEE260-2DCA-4E68-9719-2D94DA79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6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95D367-78A2-47F5-B8D8-808AF3A34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11">
            <a:extLst>
              <a:ext uri="{FF2B5EF4-FFF2-40B4-BE49-F238E27FC236}">
                <a16:creationId xmlns:a16="http://schemas.microsoft.com/office/drawing/2014/main" id="{6109EF88-13AD-41C1-97AF-8C2772981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0">
            <a:extLst>
              <a:ext uri="{FF2B5EF4-FFF2-40B4-BE49-F238E27FC236}">
                <a16:creationId xmlns:a16="http://schemas.microsoft.com/office/drawing/2014/main" id="{45E9990E-4826-4D59-9C78-9A4A6CA1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2C717-2A7A-4268-8EAA-2647EC66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031"/>
            <a:ext cx="4984628" cy="1491339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FC668B-6914-4B3A-B7DF-20E1580B1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814530"/>
            <a:ext cx="4984628" cy="3359258"/>
          </a:xfrm>
        </p:spPr>
        <p:txBody>
          <a:bodyPr>
            <a:normAutofit/>
          </a:bodyPr>
          <a:lstStyle>
            <a:lvl1pPr marL="0" indent="0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407AA4-CC80-45E8-B78C-F0CF175638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4666" y="1678220"/>
            <a:ext cx="4267645" cy="4267645"/>
          </a:xfrm>
          <a:custGeom>
            <a:avLst/>
            <a:gdLst>
              <a:gd name="connsiteX0" fmla="*/ 2133823 w 4267645"/>
              <a:gd name="connsiteY0" fmla="*/ 0 h 4267645"/>
              <a:gd name="connsiteX1" fmla="*/ 4267645 w 4267645"/>
              <a:gd name="connsiteY1" fmla="*/ 2133823 h 4267645"/>
              <a:gd name="connsiteX2" fmla="*/ 2133823 w 4267645"/>
              <a:gd name="connsiteY2" fmla="*/ 4267645 h 4267645"/>
              <a:gd name="connsiteX3" fmla="*/ 0 w 4267645"/>
              <a:gd name="connsiteY3" fmla="*/ 2133823 h 4267645"/>
              <a:gd name="connsiteX4" fmla="*/ 2133823 w 4267645"/>
              <a:gd name="connsiteY4" fmla="*/ 0 h 426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7645" h="4267645">
                <a:moveTo>
                  <a:pt x="2133823" y="0"/>
                </a:moveTo>
                <a:cubicBezTo>
                  <a:pt x="3312299" y="0"/>
                  <a:pt x="4267645" y="955346"/>
                  <a:pt x="4267645" y="2133823"/>
                </a:cubicBezTo>
                <a:cubicBezTo>
                  <a:pt x="4267645" y="3312300"/>
                  <a:pt x="3312299" y="4267645"/>
                  <a:pt x="2133823" y="4267645"/>
                </a:cubicBezTo>
                <a:cubicBezTo>
                  <a:pt x="955346" y="4267645"/>
                  <a:pt x="0" y="3312300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8C582-BD9C-49F9-8097-36611CFF164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EACB3-0A23-4032-B5B1-266A253C2C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62190" y="623907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C0B42-8B5D-47B8-8E1E-5BAA45A847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6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CDB3-CB80-4B55-AA7A-C57DCAC8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 anchor="b">
            <a:noAutofit/>
          </a:bodyPr>
          <a:lstStyle>
            <a:lvl1pPr>
              <a:defRPr lang="en-US" sz="5400" b="1" kern="1200" spc="4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EFD46DF2-E81B-4E77-B06D-F09DC5853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D044CC36-2EFF-44B0-90A3-986DACB7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AAA3D090-A815-4AF9-88CE-94F0B7DD3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98169C0-3B43-43E5-AC66-3B5B27A466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04905" y="3728425"/>
            <a:ext cx="5181735" cy="253489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7F553A0-E179-4D32-97DB-0F36799679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0003" y="1856226"/>
            <a:ext cx="2040674" cy="2040674"/>
          </a:xfrm>
          <a:custGeom>
            <a:avLst/>
            <a:gdLst>
              <a:gd name="connsiteX0" fmla="*/ 1020337 w 2040674"/>
              <a:gd name="connsiteY0" fmla="*/ 0 h 2040674"/>
              <a:gd name="connsiteX1" fmla="*/ 2040674 w 2040674"/>
              <a:gd name="connsiteY1" fmla="*/ 1020337 h 2040674"/>
              <a:gd name="connsiteX2" fmla="*/ 1020337 w 2040674"/>
              <a:gd name="connsiteY2" fmla="*/ 2040674 h 2040674"/>
              <a:gd name="connsiteX3" fmla="*/ 0 w 2040674"/>
              <a:gd name="connsiteY3" fmla="*/ 1020337 h 2040674"/>
              <a:gd name="connsiteX4" fmla="*/ 1020337 w 2040674"/>
              <a:gd name="connsiteY4" fmla="*/ 0 h 204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0674" h="2040674">
                <a:moveTo>
                  <a:pt x="1020337" y="0"/>
                </a:moveTo>
                <a:cubicBezTo>
                  <a:pt x="1583854" y="0"/>
                  <a:pt x="2040674" y="456820"/>
                  <a:pt x="2040674" y="1020337"/>
                </a:cubicBezTo>
                <a:cubicBezTo>
                  <a:pt x="2040674" y="1583854"/>
                  <a:pt x="1583854" y="2040674"/>
                  <a:pt x="1020337" y="2040674"/>
                </a:cubicBezTo>
                <a:cubicBezTo>
                  <a:pt x="456820" y="2040674"/>
                  <a:pt x="0" y="1583854"/>
                  <a:pt x="0" y="1020337"/>
                </a:cubicBezTo>
                <a:cubicBezTo>
                  <a:pt x="0" y="456820"/>
                  <a:pt x="456820" y="0"/>
                  <a:pt x="102033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BD1CE3-05F6-44F6-B6FB-EB60AB96B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25160" y="0"/>
            <a:ext cx="2866840" cy="2925044"/>
          </a:xfrm>
          <a:custGeom>
            <a:avLst/>
            <a:gdLst>
              <a:gd name="connsiteX0" fmla="*/ 1437601 w 2866840"/>
              <a:gd name="connsiteY0" fmla="*/ 0 h 2925044"/>
              <a:gd name="connsiteX1" fmla="*/ 1488735 w 2866840"/>
              <a:gd name="connsiteY1" fmla="*/ 0 h 2925044"/>
              <a:gd name="connsiteX2" fmla="*/ 1612768 w 2866840"/>
              <a:gd name="connsiteY2" fmla="*/ 6263 h 2925044"/>
              <a:gd name="connsiteX3" fmla="*/ 2860554 w 2866840"/>
              <a:gd name="connsiteY3" fmla="*/ 1026775 h 2925044"/>
              <a:gd name="connsiteX4" fmla="*/ 2866840 w 2866840"/>
              <a:gd name="connsiteY4" fmla="*/ 1051223 h 2925044"/>
              <a:gd name="connsiteX5" fmla="*/ 2866840 w 2866840"/>
              <a:gd name="connsiteY5" fmla="*/ 1872530 h 2925044"/>
              <a:gd name="connsiteX6" fmla="*/ 2860554 w 2866840"/>
              <a:gd name="connsiteY6" fmla="*/ 1896978 h 2925044"/>
              <a:gd name="connsiteX7" fmla="*/ 1463168 w 2866840"/>
              <a:gd name="connsiteY7" fmla="*/ 2925044 h 2925044"/>
              <a:gd name="connsiteX8" fmla="*/ 0 w 2866840"/>
              <a:gd name="connsiteY8" fmla="*/ 1461877 h 2925044"/>
              <a:gd name="connsiteX9" fmla="*/ 1313568 w 2866840"/>
              <a:gd name="connsiteY9" fmla="*/ 6263 h 292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66840" h="2925044">
                <a:moveTo>
                  <a:pt x="1437601" y="0"/>
                </a:moveTo>
                <a:lnTo>
                  <a:pt x="1488735" y="0"/>
                </a:lnTo>
                <a:lnTo>
                  <a:pt x="1612768" y="6263"/>
                </a:lnTo>
                <a:cubicBezTo>
                  <a:pt x="2203017" y="66206"/>
                  <a:pt x="2689551" y="476982"/>
                  <a:pt x="2860554" y="1026775"/>
                </a:cubicBezTo>
                <a:lnTo>
                  <a:pt x="2866840" y="1051223"/>
                </a:lnTo>
                <a:lnTo>
                  <a:pt x="2866840" y="1872530"/>
                </a:lnTo>
                <a:lnTo>
                  <a:pt x="2860554" y="1896978"/>
                </a:lnTo>
                <a:cubicBezTo>
                  <a:pt x="2675300" y="2492588"/>
                  <a:pt x="2119737" y="2925044"/>
                  <a:pt x="1463168" y="2925044"/>
                </a:cubicBezTo>
                <a:cubicBezTo>
                  <a:pt x="655082" y="2925044"/>
                  <a:pt x="0" y="2269962"/>
                  <a:pt x="0" y="1461877"/>
                </a:cubicBezTo>
                <a:cubicBezTo>
                  <a:pt x="0" y="704296"/>
                  <a:pt x="575756" y="81192"/>
                  <a:pt x="1313568" y="626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562173-D9DF-4B80-B41C-B2366D8F2C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5227" y="3267983"/>
            <a:ext cx="3726773" cy="3590017"/>
          </a:xfrm>
          <a:custGeom>
            <a:avLst/>
            <a:gdLst>
              <a:gd name="connsiteX0" fmla="*/ 2272751 w 3726773"/>
              <a:gd name="connsiteY0" fmla="*/ 0 h 3590017"/>
              <a:gd name="connsiteX1" fmla="*/ 3718432 w 3726773"/>
              <a:gd name="connsiteY1" fmla="*/ 518986 h 3590017"/>
              <a:gd name="connsiteX2" fmla="*/ 3726773 w 3726773"/>
              <a:gd name="connsiteY2" fmla="*/ 526567 h 3590017"/>
              <a:gd name="connsiteX3" fmla="*/ 3726773 w 3726773"/>
              <a:gd name="connsiteY3" fmla="*/ 3590017 h 3590017"/>
              <a:gd name="connsiteX4" fmla="*/ 422959 w 3726773"/>
              <a:gd name="connsiteY4" fmla="*/ 3590017 h 3590017"/>
              <a:gd name="connsiteX5" fmla="*/ 388150 w 3726773"/>
              <a:gd name="connsiteY5" fmla="*/ 3543469 h 3590017"/>
              <a:gd name="connsiteX6" fmla="*/ 0 w 3726773"/>
              <a:gd name="connsiteY6" fmla="*/ 2272752 h 3590017"/>
              <a:gd name="connsiteX7" fmla="*/ 2272751 w 3726773"/>
              <a:gd name="connsiteY7" fmla="*/ 0 h 359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26773" h="3590017">
                <a:moveTo>
                  <a:pt x="2272751" y="0"/>
                </a:moveTo>
                <a:cubicBezTo>
                  <a:pt x="2821903" y="0"/>
                  <a:pt x="3325566" y="194765"/>
                  <a:pt x="3718432" y="518986"/>
                </a:cubicBezTo>
                <a:lnTo>
                  <a:pt x="3726773" y="526567"/>
                </a:lnTo>
                <a:lnTo>
                  <a:pt x="3726773" y="3590017"/>
                </a:lnTo>
                <a:lnTo>
                  <a:pt x="422959" y="3590017"/>
                </a:lnTo>
                <a:lnTo>
                  <a:pt x="388150" y="3543469"/>
                </a:lnTo>
                <a:cubicBezTo>
                  <a:pt x="143093" y="3180735"/>
                  <a:pt x="0" y="2743454"/>
                  <a:pt x="0" y="2272752"/>
                </a:cubicBezTo>
                <a:cubicBezTo>
                  <a:pt x="0" y="1017546"/>
                  <a:pt x="1017546" y="0"/>
                  <a:pt x="227275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2CFE18B2-C456-4DF2-9D4C-6A9017A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ABD619-DC62-4FA6-8ABC-122A5C4B4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8A21E-0201-405E-A386-7A39F8F82F4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301262" y="21822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6BABF-2A15-48FB-BA27-BC36B637FC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16200000">
            <a:off x="-762668" y="4999038"/>
            <a:ext cx="335280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1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60" r:id="rId5"/>
    <p:sldLayoutId id="2147483680" r:id="rId6"/>
    <p:sldLayoutId id="2147483677" r:id="rId7"/>
    <p:sldLayoutId id="2147483665" r:id="rId8"/>
    <p:sldLayoutId id="2147483663" r:id="rId9"/>
    <p:sldLayoutId id="2147483679" r:id="rId10"/>
    <p:sldLayoutId id="2147483681" r:id="rId11"/>
    <p:sldLayoutId id="214748367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4F1D-F101-4E88-9698-51D314EF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26762-2B23-4F53-9DBB-96441A2A5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159" y="5237565"/>
            <a:ext cx="4076458" cy="990197"/>
          </a:xfrm>
        </p:spPr>
        <p:txBody>
          <a:bodyPr/>
          <a:lstStyle/>
          <a:p>
            <a:r>
              <a:rPr lang="en-US" dirty="0"/>
              <a:t>Rajashree K</a:t>
            </a:r>
          </a:p>
        </p:txBody>
      </p:sp>
      <p:pic>
        <p:nvPicPr>
          <p:cNvPr id="5" name="Picture Placeholder 5" descr="Man in a safety vest looking up at a wall of stacked shipping containers. ">
            <a:extLst>
              <a:ext uri="{FF2B5EF4-FFF2-40B4-BE49-F238E27FC236}">
                <a16:creationId xmlns:a16="http://schemas.microsoft.com/office/drawing/2014/main" id="{B5F22C11-4FE3-4065-96C3-C3A1E470B9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6238" y="0"/>
            <a:ext cx="6735762" cy="6858000"/>
          </a:xfrm>
        </p:spPr>
      </p:pic>
    </p:spTree>
    <p:extLst>
      <p:ext uri="{BB962C8B-B14F-4D97-AF65-F5344CB8AC3E}">
        <p14:creationId xmlns:p14="http://schemas.microsoft.com/office/powerpoint/2010/main" val="191763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DE92-075C-43EC-8CB3-D334B9CF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340" y="2446418"/>
            <a:ext cx="4434721" cy="19651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94E4-45F6-40E9-98B7-10B9F6F0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536567"/>
            <a:ext cx="4518504" cy="5784867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An Inventory Management System is a web-based application used to manage and monitor product stock in real time. It centralizes all product data, including quantities, pricing, and updates, in a structured database. The system replaces manual stock-tracking methods with an online platform, reducing errors and improving the accuracy of inventory records. It helps businesses maintain the right stock levels, avoid shortages, and streamline daily operations.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4D430-E0CC-4442-BDFA-D14BE30174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60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36105-6267-03FC-E64B-76072027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BCFB-61BA-CE64-4648-7D0A6168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02" y="3000896"/>
            <a:ext cx="4434721" cy="705344"/>
          </a:xfrm>
          <a:noFill/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7A79-0220-4F83-301F-89EEE4687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438" y="571483"/>
            <a:ext cx="4735860" cy="578486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 </a:t>
            </a:r>
            <a:r>
              <a:rPr lang="en-US" b="1" dirty="0"/>
              <a:t>automate</a:t>
            </a:r>
            <a:r>
              <a:rPr lang="en-US" dirty="0"/>
              <a:t> the inventory management process.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/>
              <a:t>To support </a:t>
            </a:r>
            <a:r>
              <a:rPr lang="en-US" altLang="en-US" b="1" dirty="0"/>
              <a:t>secure role-based login</a:t>
            </a:r>
            <a:r>
              <a:rPr lang="en-US" altLang="en-US" dirty="0"/>
              <a:t> for Admin and Staff.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/>
              <a:t>To enable </a:t>
            </a:r>
            <a:r>
              <a:rPr lang="en-US" altLang="en-US" b="1" dirty="0"/>
              <a:t>automatic low-stock alerts</a:t>
            </a:r>
            <a:r>
              <a:rPr lang="en-US" altLang="en-US" dirty="0"/>
              <a:t> for timely restocking.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 </a:t>
            </a:r>
            <a:r>
              <a:rPr lang="en-US" b="1" dirty="0"/>
              <a:t>reduce manual errors </a:t>
            </a:r>
            <a:r>
              <a:rPr lang="en-US" dirty="0"/>
              <a:t>in inventory tracking.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 </a:t>
            </a:r>
            <a:r>
              <a:rPr lang="en-US" b="1" dirty="0"/>
              <a:t>Improve accuracy </a:t>
            </a:r>
            <a:r>
              <a:rPr lang="en-US" dirty="0"/>
              <a:t>in inventory record.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 generate useful inventory </a:t>
            </a:r>
            <a:r>
              <a:rPr lang="en-US" b="1" dirty="0"/>
              <a:t>reports</a:t>
            </a:r>
            <a:r>
              <a:rPr lang="en-US" dirty="0"/>
              <a:t>.</a:t>
            </a:r>
          </a:p>
          <a:p>
            <a:pPr marL="342900" indent="-342900" algn="ctr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059-E2A4-035B-36DA-5A6AA024A18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9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0F5593E-CA17-4C7C-A850-092E1004DC8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C39E95-E1B3-4552-ABD4-3440F7446CE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E990F-B24E-257A-B59B-BAD5BDFCCC07}"/>
              </a:ext>
            </a:extLst>
          </p:cNvPr>
          <p:cNvSpPr txBox="1"/>
          <p:nvPr/>
        </p:nvSpPr>
        <p:spPr>
          <a:xfrm>
            <a:off x="0" y="2934295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TECH STACK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C6C1F-B33F-7816-2589-441B637EB91E}"/>
              </a:ext>
            </a:extLst>
          </p:cNvPr>
          <p:cNvSpPr txBox="1"/>
          <p:nvPr/>
        </p:nvSpPr>
        <p:spPr>
          <a:xfrm>
            <a:off x="6723724" y="117693"/>
            <a:ext cx="490354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1. Frontend:</a:t>
            </a:r>
          </a:p>
          <a:p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HTML5,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CSS3,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Bootstrap 5 (Responsive UI)</a:t>
            </a:r>
          </a:p>
          <a:p>
            <a:endParaRPr lang="en-IN" sz="1600" dirty="0"/>
          </a:p>
          <a:p>
            <a:r>
              <a:rPr lang="en-IN" sz="1600" b="1" dirty="0"/>
              <a:t>2. Backend: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Spring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RestAPIs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Spring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JWT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Spring 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Direct JDBC for database operations</a:t>
            </a:r>
          </a:p>
          <a:p>
            <a:endParaRPr lang="en-IN" sz="1600" b="1" dirty="0"/>
          </a:p>
          <a:p>
            <a:r>
              <a:rPr lang="en-IN" sz="1600" b="1" dirty="0"/>
              <a:t>3. Tools &amp; Testing: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Postman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JUnit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IntelliJ</a:t>
            </a:r>
          </a:p>
          <a:p>
            <a:endParaRPr lang="en-IN" sz="1600" b="1" dirty="0"/>
          </a:p>
          <a:p>
            <a:r>
              <a:rPr lang="en-IN" sz="1600" b="1" dirty="0"/>
              <a:t>4. 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3548834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960D4-96FD-ADC7-326E-55CE80E7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4F3E-3A37-A9A7-C51B-0D6E18EF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6439"/>
            <a:ext cx="9679448" cy="2868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2623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96F67C89-6102-D2B3-1BF4-AD6FB214FBE7}"/>
              </a:ext>
            </a:extLst>
          </p:cNvPr>
          <p:cNvSpPr txBox="1"/>
          <p:nvPr/>
        </p:nvSpPr>
        <p:spPr>
          <a:xfrm>
            <a:off x="828043" y="810191"/>
            <a:ext cx="5824684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 Presentation Layer (Frontend)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separate interfaces for </a:t>
            </a:r>
            <a:r>
              <a:rPr lang="en-US" b="1" dirty="0"/>
              <a:t>Admin and Staff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Sends requests to the backend through </a:t>
            </a:r>
            <a:r>
              <a:rPr lang="en-US" b="1" dirty="0"/>
              <a:t>REST APIs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Controller Layer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Handles all HTTP requests and API routing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Example: Login, Product, Staff, Order controllers</a:t>
            </a:r>
            <a:endParaRPr lang="en-US" alt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Service Layer</a:t>
            </a:r>
            <a:endParaRPr lang="en-US" alt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Contains all business logic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Stock calculation, order processing, email triggering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JDBC</a:t>
            </a:r>
            <a:endParaRPr lang="en-US" alt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Used for database connection and SQL execution</a:t>
            </a: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90AD2A-81D9-9C1E-7403-9EF115B9B1E9}"/>
              </a:ext>
            </a:extLst>
          </p:cNvPr>
          <p:cNvSpPr txBox="1"/>
          <p:nvPr/>
        </p:nvSpPr>
        <p:spPr>
          <a:xfrm>
            <a:off x="6955673" y="903553"/>
            <a:ext cx="5359941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Repository Layer</a:t>
            </a:r>
            <a:endParaRPr lang="en-US" alt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Performs database operations using JDBC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Insert, update, delete, fetch data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Model Layer</a:t>
            </a:r>
            <a:endParaRPr lang="en-US" alt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Represents database structure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Example: Staff, Product, Stock models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Security Layer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Controls login security and access rules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Password encryption using </a:t>
            </a:r>
            <a:r>
              <a:rPr lang="en-US" altLang="en-US" dirty="0" err="1"/>
              <a:t>Bcrypt</a:t>
            </a: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JWT</a:t>
            </a:r>
            <a:endParaRPr lang="en-US" alt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Used for secure authentication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 Token generated after login and validated for every request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b="1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C07F8-1D7C-FD78-4203-3BEB1B582209}"/>
              </a:ext>
            </a:extLst>
          </p:cNvPr>
          <p:cNvSpPr txBox="1"/>
          <p:nvPr/>
        </p:nvSpPr>
        <p:spPr>
          <a:xfrm>
            <a:off x="951722" y="149290"/>
            <a:ext cx="387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6EF4F-7DD6-A6AE-B492-D68F4EEF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8DD7-46CD-2E6D-A7C6-5395488E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525" y="1457289"/>
            <a:ext cx="9679448" cy="2868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1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91DD-ACE8-E5BA-5018-321260FE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D5DD1B3-6954-8EE1-2FA2-EE4A3E6626C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0A7092-08DD-2090-A65A-63AF14C202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AC609-FCDE-EA72-FDFC-960C5E50E7D3}"/>
              </a:ext>
            </a:extLst>
          </p:cNvPr>
          <p:cNvSpPr txBox="1"/>
          <p:nvPr/>
        </p:nvSpPr>
        <p:spPr>
          <a:xfrm>
            <a:off x="6161473" y="110677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MODULES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4EBA0-7E75-64B2-A2CD-8F15488F1A66}"/>
              </a:ext>
            </a:extLst>
          </p:cNvPr>
          <p:cNvSpPr txBox="1"/>
          <p:nvPr/>
        </p:nvSpPr>
        <p:spPr>
          <a:xfrm>
            <a:off x="6480315" y="793497"/>
            <a:ext cx="5130819" cy="253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system is organized into three core modules: </a:t>
            </a:r>
            <a:r>
              <a:rPr lang="en-US" b="1" dirty="0"/>
              <a:t>Authentication, Admin, and Staff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Authentication controls secure access to the system.</a:t>
            </a:r>
            <a:br>
              <a:rPr lang="en-US" dirty="0"/>
            </a:br>
            <a:r>
              <a:rPr lang="en-US" dirty="0"/>
              <a:t>Admin and Staff modules operate with role-based responsibilities.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E9F42-CBCF-1D60-AF05-6998B4968957}"/>
              </a:ext>
            </a:extLst>
          </p:cNvPr>
          <p:cNvSpPr txBox="1"/>
          <p:nvPr/>
        </p:nvSpPr>
        <p:spPr>
          <a:xfrm>
            <a:off x="6414725" y="3818989"/>
            <a:ext cx="5261995" cy="253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Signup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New user registration with name, email, password, and role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Password stored in encrypted form using </a:t>
            </a:r>
            <a:r>
              <a:rPr lang="en-IN" dirty="0" err="1"/>
              <a:t>BCrypt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 can log in after successful signup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E7908-B2D4-90B2-E790-C37253E147AA}"/>
              </a:ext>
            </a:extLst>
          </p:cNvPr>
          <p:cNvSpPr txBox="1"/>
          <p:nvPr/>
        </p:nvSpPr>
        <p:spPr>
          <a:xfrm>
            <a:off x="571341" y="3167390"/>
            <a:ext cx="46188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1. Authentication Module </a:t>
            </a:r>
          </a:p>
        </p:txBody>
      </p:sp>
    </p:spTree>
    <p:extLst>
      <p:ext uri="{BB962C8B-B14F-4D97-AF65-F5344CB8AC3E}">
        <p14:creationId xmlns:p14="http://schemas.microsoft.com/office/powerpoint/2010/main" val="400939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08D99-B768-B719-D6ED-97B698E6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C0DF2FA-3BE4-A0E0-DBB1-C2BF55A5E18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0ED238-904F-FBC1-DEC0-DB5FDA9F94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D16133-FD1C-A24D-2F3F-B080576683AC}"/>
              </a:ext>
            </a:extLst>
          </p:cNvPr>
          <p:cNvSpPr txBox="1"/>
          <p:nvPr/>
        </p:nvSpPr>
        <p:spPr>
          <a:xfrm>
            <a:off x="6150198" y="213127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MODULES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D8699-4EC8-11D3-3095-4610CD51E07E}"/>
              </a:ext>
            </a:extLst>
          </p:cNvPr>
          <p:cNvSpPr txBox="1"/>
          <p:nvPr/>
        </p:nvSpPr>
        <p:spPr>
          <a:xfrm>
            <a:off x="6466018" y="1859339"/>
            <a:ext cx="5136859" cy="4199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This module is responsible for user registration and secure login.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 login using email and password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JWT token generated after successful authentication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Role-based redirection: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Admin → Admin Dashboard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Staff → Staff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Admin login requires an additional </a:t>
            </a:r>
            <a:r>
              <a:rPr lang="en-IN" b="1" dirty="0"/>
              <a:t>Secret Key</a:t>
            </a:r>
            <a:r>
              <a:rPr lang="en-IN" dirty="0"/>
              <a:t> for second-level verification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64810-C812-7EE2-59FB-86E4B5C25A15}"/>
              </a:ext>
            </a:extLst>
          </p:cNvPr>
          <p:cNvSpPr txBox="1"/>
          <p:nvPr/>
        </p:nvSpPr>
        <p:spPr>
          <a:xfrm>
            <a:off x="279575" y="3043758"/>
            <a:ext cx="6119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1. Authentication Module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19DB9-B577-6F7E-66D0-33E67B263A72}"/>
              </a:ext>
            </a:extLst>
          </p:cNvPr>
          <p:cNvSpPr txBox="1"/>
          <p:nvPr/>
        </p:nvSpPr>
        <p:spPr>
          <a:xfrm>
            <a:off x="6257925" y="1231219"/>
            <a:ext cx="6096000" cy="45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422768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F45A-5718-7685-7DCE-E678BF25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1B8B278-668C-843A-DC87-1B9AF48BE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108" y="3429000"/>
            <a:ext cx="4062412" cy="2967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CD8AEE-A98A-6E80-EB9C-D3441138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268" y="3429000"/>
            <a:ext cx="3545205" cy="2945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887B01-AE30-74AB-BC28-5BB231DE9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794" y="158500"/>
            <a:ext cx="5409882" cy="289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08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55CB-EE47-7EE8-EC71-E326E7FB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A730235-D058-C8A9-24CB-792377D7AA8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BCE0A7-BD0A-FCDE-5D08-6E3AB76CDA1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9AA42-4F38-98CE-DE18-11AF582C6643}"/>
              </a:ext>
            </a:extLst>
          </p:cNvPr>
          <p:cNvSpPr txBox="1"/>
          <p:nvPr/>
        </p:nvSpPr>
        <p:spPr>
          <a:xfrm>
            <a:off x="6150198" y="144442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MODULES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91023-493B-BAD9-104C-547F82D336A4}"/>
              </a:ext>
            </a:extLst>
          </p:cNvPr>
          <p:cNvSpPr txBox="1"/>
          <p:nvPr/>
        </p:nvSpPr>
        <p:spPr>
          <a:xfrm>
            <a:off x="5918423" y="667662"/>
            <a:ext cx="5768501" cy="669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Admin Dashboard</a:t>
            </a:r>
            <a:br>
              <a:rPr lang="en-US" dirty="0"/>
            </a:br>
            <a:r>
              <a:rPr lang="en-US" dirty="0"/>
              <a:t>Displays real-time counts of total number of products, total staff, total orders for the day, and number of low-stock products.</a:t>
            </a:r>
            <a:br>
              <a:rPr lang="en-US" dirty="0"/>
            </a:br>
            <a:r>
              <a:rPr lang="en-US" b="1" dirty="0"/>
              <a:t>Product Management</a:t>
            </a:r>
            <a:br>
              <a:rPr lang="en-US" dirty="0"/>
            </a:br>
            <a:r>
              <a:rPr lang="en-US" dirty="0"/>
              <a:t>Supports adding new products, updating existing products, deleting products, and monitoring live stock levels.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Staff Management</a:t>
            </a:r>
            <a:br>
              <a:rPr lang="en-US" dirty="0"/>
            </a:br>
            <a:r>
              <a:rPr lang="en-US" dirty="0"/>
              <a:t>Allows adding new staff users, viewing the complete staff list, and removing staff users from the system.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Report Management</a:t>
            </a:r>
            <a:br>
              <a:rPr lang="en-US" dirty="0"/>
            </a:br>
            <a:r>
              <a:rPr lang="en-US" dirty="0"/>
              <a:t>Enables downloading inventory and system reports in </a:t>
            </a:r>
            <a:r>
              <a:rPr lang="en-US" b="1" dirty="0"/>
              <a:t>Excel files </a:t>
            </a:r>
            <a:r>
              <a:rPr lang="en-US" dirty="0"/>
              <a:t>for record keeping.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B5563-9D52-B8DC-84A0-4DC13D68B75E}"/>
              </a:ext>
            </a:extLst>
          </p:cNvPr>
          <p:cNvSpPr txBox="1"/>
          <p:nvPr/>
        </p:nvSpPr>
        <p:spPr>
          <a:xfrm>
            <a:off x="947286" y="2844225"/>
            <a:ext cx="4857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2. Admin Module</a:t>
            </a:r>
          </a:p>
        </p:txBody>
      </p:sp>
    </p:spTree>
    <p:extLst>
      <p:ext uri="{BB962C8B-B14F-4D97-AF65-F5344CB8AC3E}">
        <p14:creationId xmlns:p14="http://schemas.microsoft.com/office/powerpoint/2010/main" val="358709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7BDB-EE49-F5CE-F899-F06CB395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62E26F28-B3B0-BAFD-92F7-998A1B5B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889"/>
          <a:stretch>
            <a:fillRect/>
          </a:stretch>
        </p:blipFill>
        <p:spPr>
          <a:xfrm>
            <a:off x="2072641" y="540817"/>
            <a:ext cx="9576086" cy="253766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1ED1C0-0142-E2E4-E955-536E455C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426"/>
          <a:stretch>
            <a:fillRect/>
          </a:stretch>
        </p:blipFill>
        <p:spPr>
          <a:xfrm>
            <a:off x="2072640" y="3429000"/>
            <a:ext cx="9570720" cy="233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48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9495-38B7-035A-B1AC-524F196C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5B21E96-0F25-F858-F18B-F4A1297D5A8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A15228-37B0-9D7B-51ED-702362104D5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EFFA8-96FE-0061-2D96-713F98BBF0D2}"/>
              </a:ext>
            </a:extLst>
          </p:cNvPr>
          <p:cNvSpPr txBox="1"/>
          <p:nvPr/>
        </p:nvSpPr>
        <p:spPr>
          <a:xfrm>
            <a:off x="6150198" y="144442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MODULES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E7A7A-8BEA-B454-54C7-6912D3D46837}"/>
              </a:ext>
            </a:extLst>
          </p:cNvPr>
          <p:cNvSpPr txBox="1"/>
          <p:nvPr/>
        </p:nvSpPr>
        <p:spPr>
          <a:xfrm>
            <a:off x="5899762" y="775384"/>
            <a:ext cx="6269372" cy="6276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Admin Dashboard</a:t>
            </a:r>
            <a:br>
              <a:rPr lang="en-US" dirty="0"/>
            </a:br>
            <a:r>
              <a:rPr lang="en-US" dirty="0"/>
              <a:t>Displays real-time counts of total number of products, total staff, total orders for the day, and number of low-stock products.</a:t>
            </a:r>
            <a:br>
              <a:rPr lang="en-US" dirty="0"/>
            </a:br>
            <a:r>
              <a:rPr lang="en-US" b="1" dirty="0"/>
              <a:t>Product Management</a:t>
            </a:r>
            <a:br>
              <a:rPr lang="en-US" dirty="0"/>
            </a:br>
            <a:r>
              <a:rPr lang="en-US" dirty="0"/>
              <a:t>Supports adding new products, updating existing products, deleting products, and monitoring live stock levels.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Staff Management</a:t>
            </a:r>
            <a:br>
              <a:rPr lang="en-US" dirty="0"/>
            </a:br>
            <a:r>
              <a:rPr lang="en-US" dirty="0"/>
              <a:t>Allows adding new staff users, viewing the complete staff list, and removing staff users from the system.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Report Management</a:t>
            </a:r>
            <a:br>
              <a:rPr lang="en-US" dirty="0"/>
            </a:br>
            <a:r>
              <a:rPr lang="en-US" dirty="0"/>
              <a:t>Enables downloading inventory and system reports in </a:t>
            </a:r>
            <a:r>
              <a:rPr lang="en-US" b="1" dirty="0"/>
              <a:t>Excel files </a:t>
            </a:r>
            <a:r>
              <a:rPr lang="en-US" dirty="0"/>
              <a:t>for external use and record keeping.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59142-B587-507C-BB2A-CA2E19C947F1}"/>
              </a:ext>
            </a:extLst>
          </p:cNvPr>
          <p:cNvSpPr txBox="1"/>
          <p:nvPr/>
        </p:nvSpPr>
        <p:spPr>
          <a:xfrm>
            <a:off x="947286" y="2844225"/>
            <a:ext cx="4857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2. Admin Module</a:t>
            </a:r>
          </a:p>
        </p:txBody>
      </p:sp>
    </p:spTree>
    <p:extLst>
      <p:ext uri="{BB962C8B-B14F-4D97-AF65-F5344CB8AC3E}">
        <p14:creationId xmlns:p14="http://schemas.microsoft.com/office/powerpoint/2010/main" val="884944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2BB0-1A21-179D-00A0-4244773A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423967-4142-F0F6-7615-47BC5B50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" y="69980"/>
            <a:ext cx="8111184" cy="335902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CD439F-50DB-C795-61CE-EB192DD0B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581" y="0"/>
            <a:ext cx="3699199" cy="37125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6D0D08-1FEF-0139-3DF8-7310588EF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042" y="3926244"/>
            <a:ext cx="3724275" cy="24765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2AB1FD-4E80-F5A6-29F6-BF0B857842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992"/>
          <a:stretch>
            <a:fillRect/>
          </a:stretch>
        </p:blipFill>
        <p:spPr>
          <a:xfrm>
            <a:off x="109220" y="3618796"/>
            <a:ext cx="8033066" cy="283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3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A324-E1A2-C8F1-F821-B6644B67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54DF06-7B09-7015-3928-7BD36C11F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65" y="138506"/>
            <a:ext cx="7688424" cy="3716037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909E8E4-8C94-5F52-79CE-EF54E40E3A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0" r="64186" b="3827"/>
          <a:stretch>
            <a:fillRect/>
          </a:stretch>
        </p:blipFill>
        <p:spPr>
          <a:xfrm>
            <a:off x="8285051" y="138506"/>
            <a:ext cx="3713584" cy="3814003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C6AE1D-9FDA-3FC6-FCFE-4CBEA38C0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60" y="4356307"/>
            <a:ext cx="6359017" cy="20698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16AF364-BD88-F7C2-93B9-12A04B45B406}"/>
              </a:ext>
            </a:extLst>
          </p:cNvPr>
          <p:cNvSpPr txBox="1"/>
          <p:nvPr/>
        </p:nvSpPr>
        <p:spPr>
          <a:xfrm>
            <a:off x="7163045" y="4538053"/>
            <a:ext cx="4835590" cy="170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Datasheets are generated from backend using </a:t>
            </a:r>
            <a:r>
              <a:rPr lang="en-US" b="1" dirty="0"/>
              <a:t>Apache POI (Excel) and CSV logic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Files are returned as </a:t>
            </a:r>
            <a:r>
              <a:rPr lang="en-US" b="1" dirty="0"/>
              <a:t>downloadable API responses</a:t>
            </a:r>
            <a:r>
              <a:rPr lang="en-US" dirty="0"/>
              <a:t> to the Admin module.</a:t>
            </a:r>
          </a:p>
        </p:txBody>
      </p:sp>
    </p:spTree>
    <p:extLst>
      <p:ext uri="{BB962C8B-B14F-4D97-AF65-F5344CB8AC3E}">
        <p14:creationId xmlns:p14="http://schemas.microsoft.com/office/powerpoint/2010/main" val="318117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268F-EBA5-C6A1-0989-E3335713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141E85-C369-2F14-04EB-6F5767F04E9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A3ECF3-EF7A-3EBC-9AAD-A59539751C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AC928-DB39-D3D2-F715-56CBDD7418D9}"/>
              </a:ext>
            </a:extLst>
          </p:cNvPr>
          <p:cNvSpPr txBox="1"/>
          <p:nvPr/>
        </p:nvSpPr>
        <p:spPr>
          <a:xfrm>
            <a:off x="6150198" y="144442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MODULES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C9F5B-04D4-85C8-399A-51925D25E04A}"/>
              </a:ext>
            </a:extLst>
          </p:cNvPr>
          <p:cNvSpPr txBox="1"/>
          <p:nvPr/>
        </p:nvSpPr>
        <p:spPr>
          <a:xfrm>
            <a:off x="5899762" y="775384"/>
            <a:ext cx="6269372" cy="544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3. Staff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module is designed for operational-level usage.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Staff Dashboard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staff-specific activity and summary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View Products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View all available products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Check current stock before placing orders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Order for Customer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Place customer orders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Ordered quantity deducted from stock automatically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Order details saved in the 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Order confirmation email triggered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42BE6-873A-2359-D36C-938D334E2705}"/>
              </a:ext>
            </a:extLst>
          </p:cNvPr>
          <p:cNvSpPr txBox="1"/>
          <p:nvPr/>
        </p:nvSpPr>
        <p:spPr>
          <a:xfrm>
            <a:off x="937761" y="2942109"/>
            <a:ext cx="4857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3. Staff Module</a:t>
            </a:r>
          </a:p>
        </p:txBody>
      </p:sp>
    </p:spTree>
    <p:extLst>
      <p:ext uri="{BB962C8B-B14F-4D97-AF65-F5344CB8AC3E}">
        <p14:creationId xmlns:p14="http://schemas.microsoft.com/office/powerpoint/2010/main" val="2795175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63DE-2FFF-48E0-F428-739DF7A8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AF63D-789A-2506-F341-481A65901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58026"/>
            <a:ext cx="8988708" cy="3046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1E30CF-C11E-5FC8-EB1D-05084E60C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3343576"/>
            <a:ext cx="8988708" cy="351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8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A441-7A39-4A6D-9898-C5DA6F9B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D5287CD-39E2-F206-CD73-99CA5C58099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cap="all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CDB332-5C66-A162-8399-908E7413CE5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75499" y="6459165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53BD4-B3AA-AD07-327E-F2AD7EB6D94C}"/>
              </a:ext>
            </a:extLst>
          </p:cNvPr>
          <p:cNvSpPr txBox="1"/>
          <p:nvPr/>
        </p:nvSpPr>
        <p:spPr>
          <a:xfrm>
            <a:off x="6150198" y="144442"/>
            <a:ext cx="5768501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MODULES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89E20-E94D-B559-4F1E-A3FCB412FE77}"/>
              </a:ext>
            </a:extLst>
          </p:cNvPr>
          <p:cNvSpPr txBox="1"/>
          <p:nvPr/>
        </p:nvSpPr>
        <p:spPr>
          <a:xfrm>
            <a:off x="5993363" y="1871870"/>
            <a:ext cx="5654063" cy="2952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Low-stock alert email sent to Admin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Order placed confirmation email sent after customer order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Implemented using Spring Mail (</a:t>
            </a:r>
            <a:r>
              <a:rPr lang="en-US" dirty="0" err="1"/>
              <a:t>JavaMailSender</a:t>
            </a:r>
            <a:r>
              <a:rPr lang="en-US" dirty="0"/>
              <a:t>, SMTP)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Triggered automatically from the Service layer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8A9E6-1867-DAC1-2CA9-2F808ED26E12}"/>
              </a:ext>
            </a:extLst>
          </p:cNvPr>
          <p:cNvSpPr txBox="1"/>
          <p:nvPr/>
        </p:nvSpPr>
        <p:spPr>
          <a:xfrm>
            <a:off x="838200" y="2271082"/>
            <a:ext cx="48572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3. Email notification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051D1-BCD2-6382-A1B3-394B3E892CC5}"/>
              </a:ext>
            </a:extLst>
          </p:cNvPr>
          <p:cNvSpPr txBox="1"/>
          <p:nvPr/>
        </p:nvSpPr>
        <p:spPr>
          <a:xfrm>
            <a:off x="6256031" y="1081387"/>
            <a:ext cx="6096000" cy="45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4. Email Notification Module </a:t>
            </a:r>
          </a:p>
        </p:txBody>
      </p:sp>
    </p:spTree>
    <p:extLst>
      <p:ext uri="{BB962C8B-B14F-4D97-AF65-F5344CB8AC3E}">
        <p14:creationId xmlns:p14="http://schemas.microsoft.com/office/powerpoint/2010/main" val="2723014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0451-A233-09FD-4645-B71C94CB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inventory notification&#10;&#10;AI-generated content may be incorrect.">
            <a:extLst>
              <a:ext uri="{FF2B5EF4-FFF2-40B4-BE49-F238E27FC236}">
                <a16:creationId xmlns:a16="http://schemas.microsoft.com/office/drawing/2014/main" id="{92AFA626-0722-FFE8-98FC-C5D5CB1E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9" t="4773" r="2385" b="-1738"/>
          <a:stretch>
            <a:fillRect/>
          </a:stretch>
        </p:blipFill>
        <p:spPr>
          <a:xfrm>
            <a:off x="815883" y="1399769"/>
            <a:ext cx="5280117" cy="3962805"/>
          </a:xfrm>
          <a:prstGeom prst="rect">
            <a:avLst/>
          </a:prstGeom>
        </p:spPr>
      </p:pic>
      <p:pic>
        <p:nvPicPr>
          <p:cNvPr id="6" name="Picture 5" descr="A screenshot of a product reaching minimum level&#10;&#10;AI-generated content may be incorrect.">
            <a:extLst>
              <a:ext uri="{FF2B5EF4-FFF2-40B4-BE49-F238E27FC236}">
                <a16:creationId xmlns:a16="http://schemas.microsoft.com/office/drawing/2014/main" id="{72AB953E-7CA4-22D6-D88D-17D4A3A1B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158" y="1399769"/>
            <a:ext cx="5280117" cy="38485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AFF624-3E3D-BC9F-A279-FAD316763A32}"/>
              </a:ext>
            </a:extLst>
          </p:cNvPr>
          <p:cNvSpPr txBox="1"/>
          <p:nvPr/>
        </p:nvSpPr>
        <p:spPr>
          <a:xfrm>
            <a:off x="2505075" y="740807"/>
            <a:ext cx="3857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 placed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1558D-32F8-FFAA-7F76-BF512BBA17E5}"/>
              </a:ext>
            </a:extLst>
          </p:cNvPr>
          <p:cNvSpPr txBox="1"/>
          <p:nvPr/>
        </p:nvSpPr>
        <p:spPr>
          <a:xfrm>
            <a:off x="7953375" y="740807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Low stock alert</a:t>
            </a:r>
          </a:p>
        </p:txBody>
      </p:sp>
    </p:spTree>
    <p:extLst>
      <p:ext uri="{BB962C8B-B14F-4D97-AF65-F5344CB8AC3E}">
        <p14:creationId xmlns:p14="http://schemas.microsoft.com/office/powerpoint/2010/main" val="1378747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5BD8-54B3-9530-6AB5-D5A51469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1E1F16-22CD-89AA-B5C5-371ADF049188}"/>
              </a:ext>
            </a:extLst>
          </p:cNvPr>
          <p:cNvSpPr txBox="1"/>
          <p:nvPr/>
        </p:nvSpPr>
        <p:spPr>
          <a:xfrm>
            <a:off x="984185" y="144657"/>
            <a:ext cx="385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Security and Authorization</a:t>
            </a: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D085F04-1592-412B-24FA-6187B232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543" y="1416485"/>
            <a:ext cx="5109750" cy="40250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2EF29B-5258-90BE-0678-65E64525D569}"/>
              </a:ext>
            </a:extLst>
          </p:cNvPr>
          <p:cNvSpPr txBox="1"/>
          <p:nvPr/>
        </p:nvSpPr>
        <p:spPr>
          <a:xfrm>
            <a:off x="899961" y="544767"/>
            <a:ext cx="5910663" cy="6692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Implemented JWT-based authentication for secure, stateless API access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On successful login, a JWT token is generated and returned to the client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token contains user identity and role (Admin / Staff)</a:t>
            </a:r>
            <a:br>
              <a:rPr lang="en-US" dirty="0"/>
            </a:br>
            <a:r>
              <a:rPr lang="en-US" dirty="0"/>
              <a:t>JWT token is sent in the Authorization header as a Bearer token for all secured APIs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Backend validates the token before allowing access to protected resources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Added Admin Secret Key as a second-level authentication (2-factor style)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Admin access is granted only when email, password, and secret key are all valid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Passwords are secured using </a:t>
            </a:r>
            <a:r>
              <a:rPr lang="en-US" dirty="0" err="1"/>
              <a:t>BCrypt</a:t>
            </a:r>
            <a:r>
              <a:rPr lang="en-US" dirty="0"/>
              <a:t> encryption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31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881B7-48A0-CE13-EDC7-550DEBCF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E9BF-2DF2-EBB3-98BD-96BB5B35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525" y="1457289"/>
            <a:ext cx="9679448" cy="2868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4149878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E5FF-A617-B0F4-01FA-595B1775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EE2BC0-AFA1-759C-E099-EE626515A76F}"/>
              </a:ext>
            </a:extLst>
          </p:cNvPr>
          <p:cNvSpPr txBox="1"/>
          <p:nvPr/>
        </p:nvSpPr>
        <p:spPr>
          <a:xfrm>
            <a:off x="909637" y="243076"/>
            <a:ext cx="10763249" cy="212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DATABASE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application uses </a:t>
            </a:r>
            <a:r>
              <a:rPr lang="en-US" sz="1800" b="1" dirty="0"/>
              <a:t>MySQL</a:t>
            </a:r>
            <a:r>
              <a:rPr lang="en-US" sz="1800" dirty="0"/>
              <a:t> as the relational database for persistent storage. The database layer is implemented using </a:t>
            </a:r>
            <a:r>
              <a:rPr lang="en-US" sz="1800" b="1" dirty="0"/>
              <a:t>direct JDBC</a:t>
            </a:r>
            <a:r>
              <a:rPr lang="en-US" sz="1800" dirty="0"/>
              <a:t>, and all database operations are performed using </a:t>
            </a:r>
            <a:r>
              <a:rPr lang="en-US" sz="1800" b="1" dirty="0"/>
              <a:t>manually written SQL queries</a:t>
            </a:r>
            <a:r>
              <a:rPr lang="en-US" sz="1800" dirty="0"/>
              <a:t>. The database schema is intentionally kept simple with only two core tables to ensure fast access, easy maintenance, and high performance.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8FC72-5D2A-8435-7264-E1437C16A691}"/>
              </a:ext>
            </a:extLst>
          </p:cNvPr>
          <p:cNvSpPr txBox="1"/>
          <p:nvPr/>
        </p:nvSpPr>
        <p:spPr>
          <a:xfrm>
            <a:off x="1009650" y="2537361"/>
            <a:ext cx="8705850" cy="212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DATABASE SCHEMA OVERVIEW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system consists of </a:t>
            </a:r>
            <a:r>
              <a:rPr lang="en-US" sz="1800" b="1" dirty="0"/>
              <a:t>two main tables</a:t>
            </a:r>
            <a:r>
              <a:rPr lang="en-US" sz="18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Staff Table</a:t>
            </a:r>
            <a:r>
              <a:rPr lang="en-US" sz="1800" dirty="0"/>
              <a:t> – Stores all authentication and user-related data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Inventory Table</a:t>
            </a:r>
            <a:r>
              <a:rPr lang="en-US" sz="1800" dirty="0"/>
              <a:t> – Stores all product and stock-related data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Both tables are created and managed directly from the backend using SQL.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8252E8-9C6C-7610-BBED-39E608EE70B6}"/>
              </a:ext>
            </a:extLst>
          </p:cNvPr>
          <p:cNvSpPr txBox="1"/>
          <p:nvPr/>
        </p:nvSpPr>
        <p:spPr>
          <a:xfrm>
            <a:off x="1009650" y="4314379"/>
            <a:ext cx="10563225" cy="2398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DATABASE OPERATIONS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All database operations are implemented using </a:t>
            </a:r>
            <a:r>
              <a:rPr lang="en-US" sz="1800" b="1" dirty="0"/>
              <a:t>manual SQL queries</a:t>
            </a:r>
            <a:r>
              <a:rPr lang="en-US" sz="1800" dirty="0"/>
              <a:t> through JDBC, including: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Database and table </a:t>
            </a:r>
            <a:r>
              <a:rPr lang="en-US" sz="1800" dirty="0" err="1"/>
              <a:t>creation,Insert</a:t>
            </a:r>
            <a:r>
              <a:rPr lang="en-US" sz="1800" dirty="0"/>
              <a:t> ,Update ,Delete ,Select operations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Uniqueness checks for email and phone number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Prepared Statements are used to prevent SQL injection and improve security.</a:t>
            </a:r>
          </a:p>
        </p:txBody>
      </p:sp>
    </p:spTree>
    <p:extLst>
      <p:ext uri="{BB962C8B-B14F-4D97-AF65-F5344CB8AC3E}">
        <p14:creationId xmlns:p14="http://schemas.microsoft.com/office/powerpoint/2010/main" val="2430225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D9E51-63CC-74A4-6AF1-D441D843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1366C-38C7-DEDB-2814-BC7B795483BA}"/>
              </a:ext>
            </a:extLst>
          </p:cNvPr>
          <p:cNvSpPr txBox="1"/>
          <p:nvPr/>
        </p:nvSpPr>
        <p:spPr>
          <a:xfrm>
            <a:off x="876300" y="584844"/>
            <a:ext cx="5219700" cy="6276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Staff table</a:t>
            </a:r>
            <a:r>
              <a:rPr lang="en-US" dirty="0"/>
              <a:t> stores all user and authentication-related information.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Staff ID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Department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Rights (Admin / Staff)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 Number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Password (Encrypted)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Status (Active / Inactive)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Created Date (Timestamp)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Updated Date (Timestamp)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This table is used for </a:t>
            </a:r>
            <a:r>
              <a:rPr lang="en-US" b="1" dirty="0"/>
              <a:t>authentication, role control, and staff management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8B48E-8276-DBE6-4220-C31B7F6266CC}"/>
              </a:ext>
            </a:extLst>
          </p:cNvPr>
          <p:cNvSpPr txBox="1"/>
          <p:nvPr/>
        </p:nvSpPr>
        <p:spPr>
          <a:xfrm>
            <a:off x="876300" y="-1034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800" dirty="0"/>
          </a:p>
          <a:p>
            <a:r>
              <a:rPr lang="en-US" sz="1800" b="1" dirty="0"/>
              <a:t>STAFF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4C3B3-7252-B083-3B93-66CDB5B81598}"/>
              </a:ext>
            </a:extLst>
          </p:cNvPr>
          <p:cNvSpPr txBox="1"/>
          <p:nvPr/>
        </p:nvSpPr>
        <p:spPr>
          <a:xfrm>
            <a:off x="6229350" y="584844"/>
            <a:ext cx="5657850" cy="5861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Inventory table</a:t>
            </a:r>
            <a:r>
              <a:rPr lang="en-US" dirty="0"/>
              <a:t> stores all product and stock-related information.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ID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Price per Quantity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Unit (Available Stock)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Total Price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Created Date (Timestamp)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Updated Date (Timestamp)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This table is used for </a:t>
            </a:r>
            <a:r>
              <a:rPr lang="en-US" b="1" dirty="0"/>
              <a:t>product management, stock tracking, low stock detection, and report generation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25840-6364-E33C-D63C-1AD44D980690}"/>
              </a:ext>
            </a:extLst>
          </p:cNvPr>
          <p:cNvSpPr txBox="1"/>
          <p:nvPr/>
        </p:nvSpPr>
        <p:spPr>
          <a:xfrm>
            <a:off x="6477000" y="151060"/>
            <a:ext cx="3076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INVENTORY TABLE </a:t>
            </a:r>
          </a:p>
        </p:txBody>
      </p:sp>
    </p:spTree>
    <p:extLst>
      <p:ext uri="{BB962C8B-B14F-4D97-AF65-F5344CB8AC3E}">
        <p14:creationId xmlns:p14="http://schemas.microsoft.com/office/powerpoint/2010/main" val="1512465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72E7-4AC4-62BB-E9D0-6689DA0B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1D06EC-048C-1888-FD12-044C881C81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CE3CE-B0D9-5F85-E65D-B0F7B03783D0}"/>
              </a:ext>
            </a:extLst>
          </p:cNvPr>
          <p:cNvSpPr txBox="1"/>
          <p:nvPr/>
        </p:nvSpPr>
        <p:spPr>
          <a:xfrm>
            <a:off x="6200774" y="1378714"/>
            <a:ext cx="5324475" cy="4614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POST:</a:t>
            </a:r>
            <a:r>
              <a:rPr lang="en-US" dirty="0"/>
              <a:t> Login, signup, add staff, add inventory, place orders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GET:</a:t>
            </a:r>
            <a:r>
              <a:rPr lang="en-US" dirty="0"/>
              <a:t> Fetch staff, inventory, product details, download Excel/CSV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PUT:</a:t>
            </a:r>
            <a:r>
              <a:rPr lang="en-US" dirty="0"/>
              <a:t> Update staff details and inventory stock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DELETE:</a:t>
            </a:r>
            <a:r>
              <a:rPr lang="en-US" dirty="0"/>
              <a:t> Remove staff users and inventory products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All requests use </a:t>
            </a:r>
            <a:r>
              <a:rPr lang="en-US" b="1" dirty="0"/>
              <a:t>JSON</a:t>
            </a:r>
            <a:r>
              <a:rPr lang="en-US" dirty="0"/>
              <a:t> and are secured using </a:t>
            </a:r>
            <a:r>
              <a:rPr lang="en-US" b="1" dirty="0"/>
              <a:t>JWT authentication</a:t>
            </a:r>
            <a:r>
              <a:rPr lang="en-US" dirty="0"/>
              <a:t> with database operations handled through </a:t>
            </a:r>
            <a:r>
              <a:rPr lang="en-US" b="1" dirty="0"/>
              <a:t>manual JDBC SQL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For testing ,It is executed by  postman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0A2F9D-BA29-BAE9-8FDC-CC471798C9F3}"/>
              </a:ext>
            </a:extLst>
          </p:cNvPr>
          <p:cNvSpPr txBox="1"/>
          <p:nvPr/>
        </p:nvSpPr>
        <p:spPr>
          <a:xfrm>
            <a:off x="6096000" y="529704"/>
            <a:ext cx="6096000" cy="45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REST API METHODS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3C5B5-EC4C-6D09-098B-22B1175E7901}"/>
              </a:ext>
            </a:extLst>
          </p:cNvPr>
          <p:cNvSpPr txBox="1"/>
          <p:nvPr/>
        </p:nvSpPr>
        <p:spPr>
          <a:xfrm>
            <a:off x="1514475" y="3018522"/>
            <a:ext cx="6096000" cy="45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REST API METHODS</a:t>
            </a:r>
          </a:p>
        </p:txBody>
      </p:sp>
    </p:spTree>
    <p:extLst>
      <p:ext uri="{BB962C8B-B14F-4D97-AF65-F5344CB8AC3E}">
        <p14:creationId xmlns:p14="http://schemas.microsoft.com/office/powerpoint/2010/main" val="1394291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4106-C698-2800-C5F3-FB4AF593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9F238A-75C3-D1E6-D6B3-CE2294829B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2549F-B18C-3DE0-8C1D-D444E32659EC}"/>
              </a:ext>
            </a:extLst>
          </p:cNvPr>
          <p:cNvSpPr txBox="1"/>
          <p:nvPr/>
        </p:nvSpPr>
        <p:spPr>
          <a:xfrm>
            <a:off x="6200774" y="437684"/>
            <a:ext cx="5324475" cy="669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JUnit</a:t>
            </a:r>
            <a:r>
              <a:rPr lang="en-US" dirty="0"/>
              <a:t> is used for automated testing of backend functionality</a:t>
            </a:r>
          </a:p>
          <a:p>
            <a:pPr>
              <a:lnSpc>
                <a:spcPct val="150000"/>
              </a:lnSpc>
            </a:pPr>
            <a:r>
              <a:rPr lang="en-US" dirty="0"/>
              <a:t>Implemented </a:t>
            </a:r>
            <a:r>
              <a:rPr lang="en-US" b="1" dirty="0"/>
              <a:t>65+ test cases</a:t>
            </a:r>
            <a:r>
              <a:rPr lang="en-US" dirty="0"/>
              <a:t> across: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Controller Layer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Service Layer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Exception Handling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Validation Logic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Tested full </a:t>
            </a:r>
            <a:r>
              <a:rPr lang="en-US" b="1" dirty="0"/>
              <a:t>CRUD operations</a:t>
            </a:r>
            <a:r>
              <a:rPr lang="en-US" dirty="0"/>
              <a:t> for Staff and Inventory</a:t>
            </a:r>
          </a:p>
          <a:p>
            <a:pPr>
              <a:lnSpc>
                <a:spcPct val="150000"/>
              </a:lnSpc>
            </a:pPr>
            <a:r>
              <a:rPr lang="en-US" dirty="0"/>
              <a:t>Covered </a:t>
            </a:r>
            <a:r>
              <a:rPr lang="en-US" b="1" dirty="0"/>
              <a:t>success cases, failure cases, and edge cases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Used </a:t>
            </a:r>
            <a:r>
              <a:rPr lang="en-US" b="1" dirty="0"/>
              <a:t>in-memory repositories</a:t>
            </a:r>
            <a:r>
              <a:rPr lang="en-US" dirty="0"/>
              <a:t> to avoid real database dependency</a:t>
            </a:r>
          </a:p>
          <a:p>
            <a:pPr>
              <a:lnSpc>
                <a:spcPct val="150000"/>
              </a:lnSpc>
            </a:pPr>
            <a:r>
              <a:rPr lang="en-US" dirty="0"/>
              <a:t>Ensured correct </a:t>
            </a:r>
            <a:r>
              <a:rPr lang="en-US" b="1" dirty="0"/>
              <a:t>API responses, validation errors, and exception behavior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76E145-3822-2BB0-8393-C64C43D305E0}"/>
              </a:ext>
            </a:extLst>
          </p:cNvPr>
          <p:cNvSpPr txBox="1"/>
          <p:nvPr/>
        </p:nvSpPr>
        <p:spPr>
          <a:xfrm>
            <a:off x="6096000" y="0"/>
            <a:ext cx="6096000" cy="875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JUnit Testing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92A09F-1572-A43E-7F01-E257FC29FF65}"/>
              </a:ext>
            </a:extLst>
          </p:cNvPr>
          <p:cNvSpPr txBox="1"/>
          <p:nvPr/>
        </p:nvSpPr>
        <p:spPr>
          <a:xfrm>
            <a:off x="1323975" y="3113341"/>
            <a:ext cx="6096000" cy="45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JUNIT TESTING</a:t>
            </a:r>
          </a:p>
        </p:txBody>
      </p:sp>
    </p:spTree>
    <p:extLst>
      <p:ext uri="{BB962C8B-B14F-4D97-AF65-F5344CB8AC3E}">
        <p14:creationId xmlns:p14="http://schemas.microsoft.com/office/powerpoint/2010/main" val="553600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A9DAE-35FC-6954-105D-C204718E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8278-7411-2D68-417B-8513FF44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525" y="1457289"/>
            <a:ext cx="9679448" cy="2868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Validations</a:t>
            </a:r>
          </a:p>
        </p:txBody>
      </p:sp>
    </p:spTree>
    <p:extLst>
      <p:ext uri="{BB962C8B-B14F-4D97-AF65-F5344CB8AC3E}">
        <p14:creationId xmlns:p14="http://schemas.microsoft.com/office/powerpoint/2010/main" val="272494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EB82-8371-A695-BC41-5A1A9941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B92CFC-2CA2-A57D-3B19-9667DA2D039F}"/>
              </a:ext>
            </a:extLst>
          </p:cNvPr>
          <p:cNvSpPr txBox="1"/>
          <p:nvPr/>
        </p:nvSpPr>
        <p:spPr>
          <a:xfrm>
            <a:off x="809625" y="1537072"/>
            <a:ext cx="4981575" cy="4614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Server-side validation implemented for </a:t>
            </a:r>
            <a:r>
              <a:rPr lang="en-IN" b="1" dirty="0"/>
              <a:t>Staff and Inventory modules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Prevents </a:t>
            </a:r>
            <a:r>
              <a:rPr lang="en-IN" b="1" dirty="0"/>
              <a:t>null, empty, and invalid input values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Annotations used: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@NotNull</a:t>
            </a:r>
            <a:r>
              <a:rPr lang="en-IN" dirty="0"/>
              <a:t> – prevents null values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@NotBlank</a:t>
            </a:r>
            <a:r>
              <a:rPr lang="en-IN" dirty="0"/>
              <a:t> – prevents empty strings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@Email</a:t>
            </a:r>
            <a:r>
              <a:rPr lang="en-IN" dirty="0"/>
              <a:t> – validates email format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@Pattern</a:t>
            </a:r>
            <a:r>
              <a:rPr lang="en-IN" dirty="0"/>
              <a:t> – restricts format (phone, status, etc.)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@Size</a:t>
            </a:r>
            <a:r>
              <a:rPr lang="en-IN" dirty="0"/>
              <a:t> – controls input length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B2F53-6906-BF98-CDE9-9F16D63DC65C}"/>
              </a:ext>
            </a:extLst>
          </p:cNvPr>
          <p:cNvSpPr txBox="1"/>
          <p:nvPr/>
        </p:nvSpPr>
        <p:spPr>
          <a:xfrm>
            <a:off x="6134098" y="1537072"/>
            <a:ext cx="6057902" cy="4614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Applied during </a:t>
            </a:r>
            <a:r>
              <a:rPr lang="en-IN" b="1" dirty="0"/>
              <a:t>login, signup, staff, and inventory operations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Validation errors handled using </a:t>
            </a:r>
            <a:r>
              <a:rPr lang="en-IN" b="1" dirty="0"/>
              <a:t>Global Exception Handler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Ensures </a:t>
            </a:r>
            <a:r>
              <a:rPr lang="en-IN" b="1" dirty="0"/>
              <a:t>data integrity, API stability, and secure processing</a:t>
            </a:r>
          </a:p>
          <a:p>
            <a:pPr>
              <a:lnSpc>
                <a:spcPct val="150000"/>
              </a:lnSpc>
            </a:pPr>
            <a:r>
              <a:rPr lang="en-US" dirty="0"/>
              <a:t>Validation is enforced </a:t>
            </a:r>
            <a:r>
              <a:rPr lang="en-US" b="1" dirty="0"/>
              <a:t>before database operations</a:t>
            </a:r>
            <a:r>
              <a:rPr lang="en-US" dirty="0"/>
              <a:t>, ensuring only verified data reaches the repository layer.</a:t>
            </a:r>
            <a:endParaRPr lang="en-IN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Helps prevent </a:t>
            </a:r>
            <a:r>
              <a:rPr lang="en-US" b="1" dirty="0"/>
              <a:t>runtime exceptions and data corruption</a:t>
            </a:r>
            <a:r>
              <a:rPr lang="en-US" dirty="0"/>
              <a:t> caused by invalid user input.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DA3AC-ADD7-7477-E94E-B848C7C70BC7}"/>
              </a:ext>
            </a:extLst>
          </p:cNvPr>
          <p:cNvSpPr txBox="1"/>
          <p:nvPr/>
        </p:nvSpPr>
        <p:spPr>
          <a:xfrm>
            <a:off x="1234786" y="494850"/>
            <a:ext cx="4253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Validations</a:t>
            </a:r>
          </a:p>
        </p:txBody>
      </p:sp>
    </p:spTree>
    <p:extLst>
      <p:ext uri="{BB962C8B-B14F-4D97-AF65-F5344CB8AC3E}">
        <p14:creationId xmlns:p14="http://schemas.microsoft.com/office/powerpoint/2010/main" val="357964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4CDFAA45-882A-416F-A852-1A8343E4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08" y="894110"/>
            <a:ext cx="5181735" cy="253489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FC4993C-22B1-4153-9289-D26CFB4B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8391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025B34-BD2B-4F65-80AF-217925182E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5B3D43-99F7-47DF-90D6-3E3028F5936C}">
  <ds:schemaRefs>
    <ds:schemaRef ds:uri="http://purl.org/dc/terms/"/>
    <ds:schemaRef ds:uri="http://schemas.microsoft.com/sharepoint/v3"/>
    <ds:schemaRef ds:uri="71af3243-3dd4-4a8d-8c0d-dd76da1f02a5"/>
    <ds:schemaRef ds:uri="230e9df3-be65-4c73-a93b-d1236ebd677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B2BE0AF-90CB-4C86-BB1E-26E501BCE9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Gradient design</Template>
  <TotalTime>818</TotalTime>
  <Words>1401</Words>
  <Application>Microsoft Office PowerPoint</Application>
  <PresentationFormat>Widescreen</PresentationFormat>
  <Paragraphs>225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Univers</vt:lpstr>
      <vt:lpstr>Wingdings</vt:lpstr>
      <vt:lpstr>GradientVTI</vt:lpstr>
      <vt:lpstr>INVENTORY MANAGEMENT SYSTEM</vt:lpstr>
      <vt:lpstr>Introduction</vt:lpstr>
      <vt:lpstr>Objective</vt:lpstr>
      <vt:lpstr>PowerPoint Presentation</vt:lpstr>
      <vt:lpstr>System architecture</vt:lpstr>
      <vt:lpstr>PowerPoint Presentation</vt:lpstr>
      <vt:lpstr>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design</vt:lpstr>
      <vt:lpstr>PowerPoint Presentation</vt:lpstr>
      <vt:lpstr>PowerPoint Presentation</vt:lpstr>
      <vt:lpstr>PowerPoint Presentation</vt:lpstr>
      <vt:lpstr>PowerPoint Presentation</vt:lpstr>
      <vt:lpstr>Validations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Rajashree K</dc:creator>
  <cp:lastModifiedBy>Rajashree K</cp:lastModifiedBy>
  <cp:revision>3</cp:revision>
  <dcterms:created xsi:type="dcterms:W3CDTF">2025-12-07T10:48:45Z</dcterms:created>
  <dcterms:modified xsi:type="dcterms:W3CDTF">2025-12-08T15:00:06Z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